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072865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מעבדה לפיזיקה 4מח | הפקולטה לפי</a:t>
            </a:r>
            <a:r>
              <a:rPr lang="he-IL" dirty="0"/>
              <a:t>ז</a:t>
            </a:r>
            <a:r>
              <a:rPr lang="he-IL" noProof="0" dirty="0"/>
              <a:t>יקה, הטכניון</a:t>
            </a:r>
          </a:p>
          <a:p>
            <a:pPr algn="r" rtl="1">
              <a:spcBef>
                <a:spcPts val="1400"/>
              </a:spcBef>
              <a:defRPr sz="26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מדידת ספקטרום הפליטה של שפופרת רנטגן, כיול זוויתי של </a:t>
            </a:r>
            <a:r>
              <a:rPr lang="he-IL" noProof="0" dirty="0" err="1"/>
              <a:t>גוניומטר</a:t>
            </a:r>
            <a:r>
              <a:rPr lang="he-IL" noProof="0" dirty="0"/>
              <a:t> וחקירת עקיפת בראג בגבישי LiF ו-</a:t>
            </a:r>
            <a:r>
              <a:rPr lang="he-IL" noProof="0" dirty="0" err="1"/>
              <a:t>KBr</a:t>
            </a:r>
            <a:endParaRPr lang="he-IL" noProof="0" dirty="0"/>
          </a:p>
          <a:p>
            <a:pPr algn="r" rtl="1">
              <a:spcBef>
                <a:spcPts val="1000"/>
              </a:spcBef>
              <a:defRPr sz="16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 – מצגת סמינר מסכמת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7286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6289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300" b="1" noProof="0" dirty="0">
                <a:solidFill>
                  <a:srgbClr val="0F1E3C"/>
                </a:solidFill>
                <a:latin typeface="Heebo"/>
              </a:rPr>
              <a:t>מציג:</a:t>
            </a:r>
            <a:r>
              <a:rPr lang="he-IL" sz="1300" noProof="0" dirty="0">
                <a:solidFill>
                  <a:srgbClr val="1E293B"/>
                </a:solidFill>
                <a:latin typeface="Heebo"/>
              </a:rPr>
              <a:t> יובל הירשמן</a:t>
            </a:r>
          </a:p>
          <a:p>
            <a:pPr algn="r" rtl="1"/>
            <a:r>
              <a:rPr lang="he-IL" sz="1300" b="1" noProof="0" dirty="0">
                <a:solidFill>
                  <a:srgbClr val="0F1E3C"/>
                </a:solidFill>
                <a:latin typeface="Heebo"/>
              </a:rPr>
              <a:t>מנחה מדריכה:</a:t>
            </a:r>
            <a:r>
              <a:rPr lang="he-IL" sz="1300" noProof="0" dirty="0">
                <a:solidFill>
                  <a:srgbClr val="1E293B"/>
                </a:solidFill>
                <a:latin typeface="Heebo"/>
              </a:rPr>
              <a:t> ד"ר הדיל ח'מיס</a:t>
            </a:r>
          </a:p>
          <a:p>
            <a:pPr algn="r" rtl="1"/>
            <a:r>
              <a:rPr lang="he-IL" sz="1300" b="1" noProof="0" dirty="0">
                <a:solidFill>
                  <a:srgbClr val="0F1E3C"/>
                </a:solidFill>
                <a:latin typeface="Heebo"/>
              </a:rPr>
              <a:t>תאריך הגשה:</a:t>
            </a:r>
            <a:r>
              <a:rPr lang="he-IL" sz="1300" noProof="0" dirty="0">
                <a:solidFill>
                  <a:srgbClr val="1E293B"/>
                </a:solidFill>
                <a:latin typeface="Heebo"/>
              </a:rPr>
              <a:t> 14 ביולי 2026</a:t>
            </a:r>
          </a:p>
          <a:p>
            <a:pPr algn="r" rtl="1"/>
            <a:r>
              <a:rPr lang="he-IL" sz="1300" b="1" noProof="0" dirty="0">
                <a:solidFill>
                  <a:srgbClr val="0F1E3C"/>
                </a:solidFill>
                <a:latin typeface="Heebo"/>
              </a:rPr>
              <a:t>מטרת הניסוי:</a:t>
            </a:r>
            <a:r>
              <a:rPr lang="he-IL" sz="1300" noProof="0" dirty="0">
                <a:solidFill>
                  <a:srgbClr val="1E293B"/>
                </a:solidFill>
                <a:latin typeface="Heebo"/>
              </a:rPr>
              <a:t> זיהוי קווי פליטה אופייניים של מוליבדן, כיול שגיאת נקודת האפס, וחקירת השפעת קבוע הסריג ורוחב הצמצם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מתווה ההצגה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1. רקע תיאורטי</a:t>
            </a:r>
          </a:p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קרינת רנטגן אופיינית ורציפה (בלימה), חוק בראג להתאבכות בגבישים, והמרת זוויות לאנרגיה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2. מערכת המדידה</a:t>
            </a:r>
          </a:p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מפרט מערכת PHYWE, </a:t>
            </a:r>
            <a:r>
              <a:rPr lang="he-IL" noProof="0" dirty="0" err="1"/>
              <a:t>אנודת</a:t>
            </a:r>
            <a:r>
              <a:rPr lang="he-IL" noProof="0" dirty="0"/>
              <a:t> מוליבדן (</a:t>
            </a:r>
            <a:r>
              <a:rPr lang="he-IL" noProof="0" dirty="0" err="1"/>
              <a:t>Mo</a:t>
            </a:r>
            <a:r>
              <a:rPr lang="he-IL" noProof="0" dirty="0"/>
              <a:t>), </a:t>
            </a:r>
            <a:r>
              <a:rPr lang="he-IL" noProof="0" dirty="0" err="1"/>
              <a:t>מונוכרומטור</a:t>
            </a:r>
            <a:r>
              <a:rPr lang="he-IL" noProof="0" dirty="0"/>
              <a:t>, </a:t>
            </a:r>
            <a:r>
              <a:rPr lang="he-IL" noProof="0" dirty="0" err="1"/>
              <a:t>גוניומטר</a:t>
            </a:r>
            <a:r>
              <a:rPr lang="he-IL" noProof="0" dirty="0"/>
              <a:t>, מונה גייגר וגבישי LiF / </a:t>
            </a:r>
            <a:r>
              <a:rPr lang="he-IL" noProof="0" dirty="0" err="1"/>
              <a:t>KBr</a:t>
            </a:r>
            <a:endParaRPr lang="he-IL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3. תוצאות וניתוח LiF</a:t>
            </a:r>
          </a:p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מיפוי קווי </a:t>
            </a:r>
            <a:r>
              <a:rPr lang="he-IL" noProof="0" dirty="0" err="1"/>
              <a:t>K_alpha</a:t>
            </a:r>
            <a:r>
              <a:rPr lang="he-IL" noProof="0" dirty="0"/>
              <a:t> ו-</a:t>
            </a:r>
            <a:r>
              <a:rPr lang="he-IL" noProof="0" dirty="0" err="1"/>
              <a:t>K_beta</a:t>
            </a:r>
            <a:r>
              <a:rPr lang="he-IL" noProof="0" dirty="0"/>
              <a:t>, כיול היסט האפס, ואימות חוק בראג בסדרי עקיפה n=1,2,3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4. תוצאות וניתוח </a:t>
            </a:r>
            <a:r>
              <a:rPr lang="he-IL" noProof="0" dirty="0" err="1"/>
              <a:t>KBr</a:t>
            </a:r>
            <a:endParaRPr lang="he-IL" noProof="0" dirty="0"/>
          </a:p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תצפית בסדרי עקיפה מרובים (עד n=6) וזיהוי סף הבליעה העצמית של ברום (</a:t>
            </a:r>
            <a:r>
              <a:rPr lang="he-IL" noProof="0" dirty="0" err="1"/>
              <a:t>Br</a:t>
            </a:r>
            <a:r>
              <a:rPr lang="he-IL" noProof="0" dirty="0"/>
              <a:t> K-</a:t>
            </a:r>
            <a:r>
              <a:rPr lang="he-IL" noProof="0" dirty="0" err="1"/>
              <a:t>edge</a:t>
            </a:r>
            <a:r>
              <a:rPr lang="he-IL" noProof="0" dirty="0"/>
              <a:t> ב-13.47 </a:t>
            </a:r>
            <a:r>
              <a:rPr lang="he-IL" noProof="0" dirty="0" err="1"/>
              <a:t>keV</a:t>
            </a:r>
            <a:r>
              <a:rPr lang="he-IL" noProof="0" dirty="0"/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5. השפעת הצמצם וקריטריונים</a:t>
            </a:r>
          </a:p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בחינת רזולוציה מול שטף (2mm מול 5mm), התאמה </a:t>
            </a:r>
            <a:r>
              <a:rPr lang="he-IL" noProof="0" dirty="0" err="1"/>
              <a:t>גאוסיאנית</a:t>
            </a:r>
            <a:r>
              <a:rPr lang="he-IL" noProof="0" dirty="0"/>
              <a:t>, והשוואת </a:t>
            </a:r>
            <a:r>
              <a:rPr lang="he-IL" noProof="0" dirty="0" err="1"/>
              <a:t>קריטריוני</a:t>
            </a:r>
            <a:r>
              <a:rPr lang="he-IL" noProof="0" dirty="0"/>
              <a:t> חילוץ אנרגיה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עקרון עקיפת בראג וקרינת רנטגן אופיינית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עקרונות פיזיקליים מרכזיים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קרינת בלימה (</a:t>
            </a:r>
            <a:r>
              <a:rPr lang="he-IL" noProof="0" dirty="0" err="1"/>
              <a:t>Bremsstrahlung</a:t>
            </a:r>
            <a:r>
              <a:rPr lang="he-IL" noProof="0" dirty="0"/>
              <a:t>): ספקטרום רציף הנובע מהאטת אלקטרונים המואצים במתח 10-35 </a:t>
            </a:r>
            <a:r>
              <a:rPr lang="he-IL" noProof="0" dirty="0" err="1"/>
              <a:t>kV</a:t>
            </a:r>
            <a:r>
              <a:rPr lang="he-IL" noProof="0" dirty="0"/>
              <a:t> אל </a:t>
            </a:r>
            <a:r>
              <a:rPr lang="he-IL" noProof="0" dirty="0" err="1"/>
              <a:t>אנודת</a:t>
            </a:r>
            <a:r>
              <a:rPr lang="he-IL" noProof="0" dirty="0"/>
              <a:t> המוליבדן (</a:t>
            </a:r>
            <a:r>
              <a:rPr lang="he-IL" noProof="0" dirty="0" err="1"/>
              <a:t>Mo</a:t>
            </a:r>
            <a:r>
              <a:rPr lang="he-IL" noProof="0" dirty="0"/>
              <a:t>).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קרינה אופיינית: אלקטרונים מהירים מייננים אלקטרון מקליפה פנימית (K). מעבר אלקטרון מרמה גבוהה פולט פוטון באנרגיה בדידה: h ν = </a:t>
            </a:r>
            <a:r>
              <a:rPr lang="he-IL" noProof="0" dirty="0" err="1"/>
              <a:t>E_initial</a:t>
            </a:r>
            <a:r>
              <a:rPr lang="he-IL" noProof="0" dirty="0"/>
              <a:t> - </a:t>
            </a:r>
            <a:r>
              <a:rPr lang="he-IL" noProof="0" dirty="0" err="1"/>
              <a:t>E_final</a:t>
            </a:r>
            <a:r>
              <a:rPr lang="he-IL" noProof="0" dirty="0"/>
              <a:t>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חוק בראג להתאבכות בונה: קרניים המוחזרות ממישורי גביש במרחק d יוצרות התאבכות בונה כאשר: 2d </a:t>
            </a:r>
            <a:r>
              <a:rPr lang="he-IL" noProof="0" dirty="0" err="1"/>
              <a:t>sin</a:t>
            </a:r>
            <a:r>
              <a:rPr lang="he-IL" noProof="0" dirty="0"/>
              <a:t>(</a:t>
            </a:r>
            <a:r>
              <a:rPr lang="he-IL" noProof="0" dirty="0" err="1"/>
              <a:t>θ_B</a:t>
            </a:r>
            <a:r>
              <a:rPr lang="he-IL" noProof="0" dirty="0"/>
              <a:t>) = n λ.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חילוץ אנרגיית הפוטון: קישור אורך הגל לאנרגיה מקבל את הצורה: E = (h c n) / (2 d </a:t>
            </a:r>
            <a:r>
              <a:rPr lang="he-IL" noProof="0" dirty="0" err="1"/>
              <a:t>sin</a:t>
            </a:r>
            <a:r>
              <a:rPr lang="he-IL" noProof="0" dirty="0"/>
              <a:t> </a:t>
            </a:r>
            <a:r>
              <a:rPr lang="he-IL" noProof="0" dirty="0" err="1"/>
              <a:t>θ_B</a:t>
            </a:r>
            <a:r>
              <a:rPr lang="he-IL" noProof="0" dirty="0"/>
              <a:t>).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</a:t>
            </a:r>
            <a:r>
              <a:rPr lang="he-IL" noProof="0" dirty="0" err="1"/>
              <a:t>קבועי</a:t>
            </a:r>
            <a:r>
              <a:rPr lang="he-IL" noProof="0" dirty="0"/>
              <a:t> הסריג שנבדקו: LiF (d = 201.4 </a:t>
            </a:r>
            <a:r>
              <a:rPr lang="he-IL" noProof="0" dirty="0" err="1"/>
              <a:t>pm</a:t>
            </a:r>
            <a:r>
              <a:rPr lang="he-IL" noProof="0" dirty="0"/>
              <a:t>) ו-</a:t>
            </a:r>
            <a:r>
              <a:rPr lang="he-IL" noProof="0" dirty="0" err="1"/>
              <a:t>KBr</a:t>
            </a:r>
            <a:r>
              <a:rPr lang="he-IL" noProof="0" dirty="0"/>
              <a:t> (d = 329.9 </a:t>
            </a:r>
            <a:r>
              <a:rPr lang="he-IL" noProof="0" dirty="0" err="1"/>
              <a:t>pm</a:t>
            </a:r>
            <a:r>
              <a:rPr lang="he-IL" noProof="0" dirty="0"/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איור: עקיפת בראג במישורי גביש</a:t>
            </a:r>
          </a:p>
        </p:txBody>
      </p:sp>
      <p:pic>
        <p:nvPicPr>
          <p:cNvPr id="7" name="Picture 6" descr="bragg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011680"/>
            <a:ext cx="4236415" cy="2297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מערכת המדידה וסריקה זוויתית </a:t>
            </a:r>
            <a:r>
              <a:rPr lang="he-IL" noProof="0" dirty="0" err="1"/>
              <a:t>בגוניומטר</a:t>
            </a:r>
            <a:endParaRPr lang="he-I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4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מערכת הניסוי (PHYWE X-</a:t>
            </a:r>
            <a:r>
              <a:rPr lang="he-IL" noProof="0" dirty="0" err="1"/>
              <a:t>Ray</a:t>
            </a:r>
            <a:r>
              <a:rPr lang="he-IL" noProof="0" dirty="0"/>
              <a:t> </a:t>
            </a:r>
            <a:r>
              <a:rPr lang="he-IL" noProof="0" dirty="0" err="1"/>
              <a:t>System</a:t>
            </a:r>
            <a:r>
              <a:rPr lang="he-IL" noProof="0" dirty="0"/>
              <a:t>)</a:t>
            </a:r>
          </a:p>
        </p:txBody>
      </p:sp>
      <p:pic>
        <p:nvPicPr>
          <p:cNvPr id="5" name="Picture 4" descr="syste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663440" cy="40491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רכיבי המערכת ופרמטרי תפעול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5150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שפופרת רנטגן: </a:t>
            </a:r>
            <a:r>
              <a:rPr lang="he-IL" noProof="0" dirty="0" err="1"/>
              <a:t>אנודת</a:t>
            </a:r>
            <a:r>
              <a:rPr lang="he-IL" noProof="0" dirty="0"/>
              <a:t> מוליבדן (</a:t>
            </a:r>
            <a:r>
              <a:rPr lang="he-IL" noProof="0" dirty="0" err="1"/>
              <a:t>Mo</a:t>
            </a:r>
            <a:r>
              <a:rPr lang="he-IL" noProof="0" dirty="0"/>
              <a:t>), מתח מאיץ עד 35 </a:t>
            </a:r>
            <a:r>
              <a:rPr lang="he-IL" noProof="0" dirty="0" err="1"/>
              <a:t>kV</a:t>
            </a:r>
            <a:r>
              <a:rPr lang="he-IL" noProof="0" dirty="0"/>
              <a:t>, זרם אלומה 1.0 </a:t>
            </a:r>
            <a:r>
              <a:rPr lang="he-IL" noProof="0" dirty="0" err="1"/>
              <a:t>mA</a:t>
            </a:r>
            <a:r>
              <a:rPr lang="he-IL" noProof="0" dirty="0"/>
              <a:t>.</a:t>
            </a:r>
          </a:p>
          <a:p>
            <a:pPr algn="r" rtl="1">
              <a:spcBef>
                <a:spcPts val="10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צמצמים (</a:t>
            </a:r>
            <a:r>
              <a:rPr lang="he-IL" noProof="0" dirty="0" err="1"/>
              <a:t>Collimators</a:t>
            </a:r>
            <a:r>
              <a:rPr lang="he-IL" noProof="0" dirty="0"/>
              <a:t>): הלבשת </a:t>
            </a:r>
            <a:r>
              <a:rPr lang="he-IL" noProof="0" dirty="0" err="1"/>
              <a:t>דיאפרגרמה</a:t>
            </a:r>
            <a:r>
              <a:rPr lang="he-IL" noProof="0" dirty="0"/>
              <a:t> בקוטר 2mm (רזולוציה גבוהה) או 5mm (שטף גבוה) למיקוד אלומת הרנטגן.</a:t>
            </a:r>
          </a:p>
          <a:p>
            <a:pPr algn="r" rtl="1">
              <a:spcBef>
                <a:spcPts val="10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מד זווית (</a:t>
            </a:r>
            <a:r>
              <a:rPr lang="he-IL" noProof="0" dirty="0" err="1"/>
              <a:t>גוניומטר</a:t>
            </a:r>
            <a:r>
              <a:rPr lang="he-IL" noProof="0" dirty="0"/>
              <a:t>): מאפשר סיבוב מסונכרן של הגביש בזווית θ וזרוע הגלאי בזווית 2θ לזיהוי זוויות בראג.</a:t>
            </a:r>
          </a:p>
          <a:p>
            <a:pPr algn="r" rtl="1">
              <a:spcBef>
                <a:spcPts val="10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גלאי: מונה גייגר-</a:t>
            </a:r>
            <a:r>
              <a:rPr lang="he-IL" noProof="0" dirty="0" err="1"/>
              <a:t>מולר</a:t>
            </a:r>
            <a:r>
              <a:rPr lang="he-IL" noProof="0" dirty="0"/>
              <a:t> (</a:t>
            </a:r>
            <a:r>
              <a:rPr lang="he-IL" noProof="0" dirty="0" err="1"/>
              <a:t>Geiger-Müller</a:t>
            </a:r>
            <a:r>
              <a:rPr lang="he-IL" noProof="0" dirty="0"/>
              <a:t> </a:t>
            </a:r>
            <a:r>
              <a:rPr lang="he-IL" noProof="0" dirty="0" err="1"/>
              <a:t>counter</a:t>
            </a:r>
            <a:r>
              <a:rPr lang="he-IL" noProof="0" dirty="0"/>
              <a:t>) למדידת עוצמת הפיזור בקצב ספירה (</a:t>
            </a:r>
            <a:r>
              <a:rPr lang="he-IL" noProof="0" dirty="0" err="1"/>
              <a:t>counts</a:t>
            </a:r>
            <a:r>
              <a:rPr lang="he-IL" noProof="0" dirty="0"/>
              <a:t> </a:t>
            </a:r>
            <a:r>
              <a:rPr lang="he-IL" noProof="0" dirty="0" err="1"/>
              <a:t>per</a:t>
            </a:r>
            <a:r>
              <a:rPr lang="he-IL" noProof="0" dirty="0"/>
              <a:t> </a:t>
            </a:r>
            <a:r>
              <a:rPr lang="he-IL" noProof="0" dirty="0" err="1"/>
              <a:t>second</a:t>
            </a:r>
            <a:r>
              <a:rPr lang="he-IL" noProof="0" dirty="0"/>
              <a:t> - </a:t>
            </a:r>
            <a:r>
              <a:rPr lang="he-IL" noProof="0" dirty="0" err="1"/>
              <a:t>cps</a:t>
            </a:r>
            <a:r>
              <a:rPr lang="he-IL" noProof="0" dirty="0"/>
              <a:t>).</a:t>
            </a:r>
          </a:p>
          <a:p>
            <a:pPr algn="r" rtl="1">
              <a:spcBef>
                <a:spcPts val="10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כיול זוויתי: ביצוע סריקת אפס מוקדמת לקביעת היסט האפס הכולל (</a:t>
            </a:r>
            <a:r>
              <a:rPr lang="he-IL" noProof="0" dirty="0" err="1"/>
              <a:t>Δθ_B</a:t>
            </a:r>
            <a:r>
              <a:rPr lang="he-IL" noProof="0" dirty="0"/>
              <a:t>) של </a:t>
            </a:r>
            <a:r>
              <a:rPr lang="he-IL" noProof="0" dirty="0" err="1"/>
              <a:t>הגוניומטר</a:t>
            </a:r>
            <a:r>
              <a:rPr lang="he-IL" noProof="0" dirty="0"/>
              <a:t> לפני כל סדרת מדידות.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מהלך המדידה וסדרת הניסויים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5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מדידה 1: גביש LiF (2mm)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182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סריקה זוויתית של גביש LiF (d = 201.4 </a:t>
            </a:r>
            <a:r>
              <a:rPr lang="he-IL" noProof="0" dirty="0" err="1"/>
              <a:t>pm</a:t>
            </a:r>
            <a:r>
              <a:rPr lang="he-IL" noProof="0" dirty="0"/>
              <a:t>) עם צמצם 2mm.</a:t>
            </a:r>
            <a:br>
              <a:rPr lang="he-IL" noProof="0" dirty="0"/>
            </a:br>
            <a:br>
              <a:rPr lang="he-IL" noProof="0" dirty="0"/>
            </a:br>
            <a:r>
              <a:rPr lang="he-IL" noProof="0" dirty="0"/>
              <a:t>• זיהוי קווי הפליטה </a:t>
            </a:r>
            <a:r>
              <a:rPr lang="he-IL" noProof="0" dirty="0" err="1"/>
              <a:t>K_alpha</a:t>
            </a:r>
            <a:r>
              <a:rPr lang="he-IL" noProof="0" dirty="0"/>
              <a:t> ו-</a:t>
            </a:r>
            <a:r>
              <a:rPr lang="he-IL" noProof="0" dirty="0" err="1"/>
              <a:t>K_beta</a:t>
            </a:r>
            <a:r>
              <a:rPr lang="he-IL" noProof="0" dirty="0"/>
              <a:t> בסדרים n=1, 2, 3.</a:t>
            </a:r>
            <a:br>
              <a:rPr lang="he-IL" noProof="0" dirty="0"/>
            </a:br>
            <a:r>
              <a:rPr lang="he-IL" noProof="0" dirty="0"/>
              <a:t>• חילוץ היסט אפס </a:t>
            </a:r>
            <a:r>
              <a:rPr lang="he-IL" noProof="0" dirty="0" err="1"/>
              <a:t>Δθ_LiF</a:t>
            </a:r>
            <a:r>
              <a:rPr lang="he-IL" noProof="0" dirty="0"/>
              <a:t> = +0.11° ± 0.06°.</a:t>
            </a:r>
            <a:br>
              <a:rPr lang="he-IL" noProof="0" dirty="0"/>
            </a:br>
            <a:r>
              <a:rPr lang="he-IL" noProof="0" dirty="0"/>
              <a:t>• בדיקת התאמה </a:t>
            </a:r>
            <a:r>
              <a:rPr lang="he-IL" noProof="0" dirty="0" err="1"/>
              <a:t>גאוסיאנית</a:t>
            </a:r>
            <a:r>
              <a:rPr lang="he-IL" noProof="0" dirty="0"/>
              <a:t> וכיול אנרגטי.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מדידה 2: גביש </a:t>
            </a:r>
            <a:r>
              <a:rPr lang="he-IL" noProof="0" dirty="0" err="1"/>
              <a:t>KBr</a:t>
            </a:r>
            <a:r>
              <a:rPr lang="he-IL" noProof="0" dirty="0"/>
              <a:t> (2mm)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7992" y="1920240"/>
            <a:ext cx="3182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סריקה זוויתית של גביש </a:t>
            </a:r>
            <a:r>
              <a:rPr lang="he-IL" noProof="0" dirty="0" err="1"/>
              <a:t>KBr</a:t>
            </a:r>
            <a:r>
              <a:rPr lang="he-IL" noProof="0" dirty="0"/>
              <a:t> (d = 329.9 </a:t>
            </a:r>
            <a:r>
              <a:rPr lang="he-IL" noProof="0" dirty="0" err="1"/>
              <a:t>pm</a:t>
            </a:r>
            <a:r>
              <a:rPr lang="he-IL" noProof="0" dirty="0"/>
              <a:t>) עם צמצם 2mm.</a:t>
            </a:r>
            <a:br>
              <a:rPr lang="he-IL" noProof="0" dirty="0"/>
            </a:br>
            <a:br>
              <a:rPr lang="he-IL" noProof="0" dirty="0"/>
            </a:br>
            <a:r>
              <a:rPr lang="he-IL" noProof="0" dirty="0"/>
              <a:t>• קבוע סריג גדול יותר המניב זוויות קטנות.</a:t>
            </a:r>
            <a:br>
              <a:rPr lang="he-IL" noProof="0" dirty="0"/>
            </a:br>
            <a:r>
              <a:rPr lang="he-IL" noProof="0" dirty="0"/>
              <a:t>• תצפית בסדרי עקיפה מרובים (עד n=6).</a:t>
            </a:r>
            <a:br>
              <a:rPr lang="he-IL" noProof="0" dirty="0"/>
            </a:br>
            <a:r>
              <a:rPr lang="he-IL" noProof="0" dirty="0"/>
              <a:t>• גילוי סף הבליעה העצמית של ברום ב-13.47 </a:t>
            </a:r>
            <a:r>
              <a:rPr lang="he-IL" noProof="0" dirty="0" err="1"/>
              <a:t>keV</a:t>
            </a:r>
            <a:r>
              <a:rPr lang="he-IL" noProof="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מדידה 3: גביש LiF (5mm)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7304" y="1920240"/>
            <a:ext cx="3182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סריקה זוויתית של גביש LiF עם צמצם 5mm.</a:t>
            </a:r>
            <a:br>
              <a:rPr lang="he-IL" noProof="0" dirty="0"/>
            </a:br>
            <a:br>
              <a:rPr lang="he-IL" noProof="0" dirty="0"/>
            </a:br>
            <a:r>
              <a:rPr lang="he-IL" noProof="0" dirty="0"/>
              <a:t>• השוואת השפעת רוחב הצמצם על הרזולוציה.</a:t>
            </a:r>
            <a:br>
              <a:rPr lang="he-IL" noProof="0" dirty="0"/>
            </a:br>
            <a:r>
              <a:rPr lang="he-IL" noProof="0" dirty="0"/>
              <a:t>• ניתוח ההתרחבות הגיאומטרית של השיאים (FWHM).</a:t>
            </a:r>
            <a:br>
              <a:rPr lang="he-IL" noProof="0" dirty="0"/>
            </a:br>
            <a:r>
              <a:rPr lang="he-IL" noProof="0" dirty="0"/>
              <a:t>• השוואת עוצמות השטף האבסולוטי (</a:t>
            </a:r>
            <a:r>
              <a:rPr lang="he-IL" noProof="0" dirty="0" err="1"/>
              <a:t>cps</a:t>
            </a:r>
            <a:r>
              <a:rPr lang="he-IL" noProof="0"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מיפוי קווי הפליטה </a:t>
            </a:r>
            <a:r>
              <a:rPr lang="he-IL" noProof="0" dirty="0" err="1"/>
              <a:t>K_alpha</a:t>
            </a:r>
            <a:r>
              <a:rPr lang="he-IL" noProof="0" dirty="0"/>
              <a:t> ו-</a:t>
            </a:r>
            <a:r>
              <a:rPr lang="he-IL" noProof="0" dirty="0" err="1"/>
              <a:t>K_beta</a:t>
            </a:r>
            <a:r>
              <a:rPr lang="he-IL" noProof="0" dirty="0"/>
              <a:t> בגביש LiF (צמצם 2mm)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6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עוצמה כפונקציה של זווית בראג (LiF)</a:t>
            </a:r>
          </a:p>
        </p:txBody>
      </p:sp>
      <p:pic>
        <p:nvPicPr>
          <p:cNvPr id="5" name="Picture 4" descr="spectrum_vs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39841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ממצאים מרכזיים וזוויות שיא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היסט אפס כולל שנמצא: </a:t>
            </a:r>
            <a:r>
              <a:rPr lang="he-IL" noProof="0" dirty="0" err="1"/>
              <a:t>Δθ_B</a:t>
            </a:r>
            <a:r>
              <a:rPr lang="he-IL" noProof="0" dirty="0"/>
              <a:t> = +0.11° ± 0.06°.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קווי פליטה סדר 1: </a:t>
            </a:r>
            <a:r>
              <a:rPr lang="he-IL" noProof="0" dirty="0" err="1"/>
              <a:t>K_alpha</a:t>
            </a:r>
            <a:r>
              <a:rPr lang="he-IL" noProof="0" dirty="0"/>
              <a:t> ב-10.30° (SNR 55.1), </a:t>
            </a:r>
            <a:r>
              <a:rPr lang="he-IL" noProof="0" dirty="0" err="1"/>
              <a:t>K_beta</a:t>
            </a:r>
            <a:r>
              <a:rPr lang="he-IL" noProof="0" dirty="0"/>
              <a:t> ב-9.20° (SNR 23.5).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קווי פליטה סדר 2: </a:t>
            </a:r>
            <a:r>
              <a:rPr lang="he-IL" noProof="0" dirty="0" err="1"/>
              <a:t>K_alpha</a:t>
            </a:r>
            <a:r>
              <a:rPr lang="he-IL" noProof="0" dirty="0"/>
              <a:t> ב-20.70° (SNR 20.2), </a:t>
            </a:r>
            <a:r>
              <a:rPr lang="he-IL" noProof="0" dirty="0" err="1"/>
              <a:t>K_beta</a:t>
            </a:r>
            <a:r>
              <a:rPr lang="he-IL" noProof="0" dirty="0"/>
              <a:t> ב-18.30° (SNR 4.9).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קווי פליטה סדר 3: </a:t>
            </a:r>
            <a:r>
              <a:rPr lang="he-IL" noProof="0" dirty="0" err="1"/>
              <a:t>K_alpha</a:t>
            </a:r>
            <a:r>
              <a:rPr lang="he-IL" noProof="0" dirty="0"/>
              <a:t> ב-32.10° (SNR 6.7).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הפרדה ברורה: הצמצם הצר (2mm) מעניק הפרדה ספקטרלית מצוינת בין קו </a:t>
            </a:r>
            <a:r>
              <a:rPr lang="he-IL" noProof="0" dirty="0" err="1"/>
              <a:t>K_alpha</a:t>
            </a:r>
            <a:r>
              <a:rPr lang="he-IL" noProof="0" dirty="0"/>
              <a:t> לקו </a:t>
            </a:r>
            <a:r>
              <a:rPr lang="he-IL" noProof="0" dirty="0" err="1"/>
              <a:t>K_beta</a:t>
            </a:r>
            <a:r>
              <a:rPr lang="he-IL" noProof="0" dirty="0"/>
              <a:t> בכל סדרי הדיפרקציה.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אימות חוק בראג עבור סדרי עקיפה שונים בגביש LiF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7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עוצמה כפונקציה של אנרגיה (n=1,2,3)</a:t>
            </a:r>
          </a:p>
        </p:txBody>
      </p:sp>
      <p:pic>
        <p:nvPicPr>
          <p:cNvPr id="5" name="Picture 4" descr="spectrum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38347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התכנסות לאנרגיה התיאורטית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המרת זוויות לאנרגיה: שימוש בחוק בראג עבור סדרים n=1, 2, 3.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הפחתת השפעת היסט האפס: ככל שסדר העקיפה n עולה, הזווית הנמדדת גדול יותר, ולכן השפעת היסט האפס הקבוע (</a:t>
            </a:r>
            <a:r>
              <a:rPr lang="he-IL" noProof="0" dirty="0" err="1"/>
              <a:t>Δθ</a:t>
            </a:r>
            <a:r>
              <a:rPr lang="he-IL" noProof="0" dirty="0"/>
              <a:t>) קטנה יחסית.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אנרגיות שיא מחושבות: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- סדר 1: </a:t>
            </a:r>
            <a:r>
              <a:rPr lang="he-IL" noProof="0" dirty="0" err="1"/>
              <a:t>K_a</a:t>
            </a:r>
            <a:r>
              <a:rPr lang="he-IL" noProof="0" dirty="0"/>
              <a:t> = 17.22 </a:t>
            </a:r>
            <a:r>
              <a:rPr lang="he-IL" noProof="0" dirty="0" err="1"/>
              <a:t>keV</a:t>
            </a:r>
            <a:r>
              <a:rPr lang="he-IL" noProof="0" dirty="0"/>
              <a:t> (3.2σ), </a:t>
            </a:r>
            <a:r>
              <a:rPr lang="he-IL" noProof="0" dirty="0" err="1"/>
              <a:t>K_b</a:t>
            </a:r>
            <a:r>
              <a:rPr lang="he-IL" noProof="0" dirty="0"/>
              <a:t> = 19.25 </a:t>
            </a:r>
            <a:r>
              <a:rPr lang="he-IL" noProof="0" dirty="0" err="1"/>
              <a:t>keV</a:t>
            </a:r>
            <a:r>
              <a:rPr lang="he-IL" noProof="0" dirty="0"/>
              <a:t> (3.4σ)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- סדר 2: </a:t>
            </a:r>
            <a:r>
              <a:rPr lang="he-IL" noProof="0" dirty="0" err="1"/>
              <a:t>K_a</a:t>
            </a:r>
            <a:r>
              <a:rPr lang="he-IL" noProof="0" dirty="0"/>
              <a:t> = 17.34 </a:t>
            </a:r>
            <a:r>
              <a:rPr lang="he-IL" noProof="0" dirty="0" err="1"/>
              <a:t>keV</a:t>
            </a:r>
            <a:r>
              <a:rPr lang="he-IL" noProof="0" dirty="0"/>
              <a:t> (3.6σ), </a:t>
            </a:r>
            <a:r>
              <a:rPr lang="he-IL" noProof="0" dirty="0" err="1"/>
              <a:t>K_b</a:t>
            </a:r>
            <a:r>
              <a:rPr lang="he-IL" noProof="0" dirty="0"/>
              <a:t> = 19.50 </a:t>
            </a:r>
            <a:r>
              <a:rPr lang="he-IL" noProof="0" dirty="0" err="1"/>
              <a:t>keV</a:t>
            </a:r>
            <a:r>
              <a:rPr lang="he-IL" noProof="0" dirty="0"/>
              <a:t> (2.1σ)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- סדר 3: </a:t>
            </a:r>
            <a:r>
              <a:rPr lang="he-IL" noProof="0" dirty="0" err="1"/>
              <a:t>K_a</a:t>
            </a:r>
            <a:r>
              <a:rPr lang="he-IL" noProof="0" dirty="0"/>
              <a:t> = 17.43 </a:t>
            </a:r>
            <a:r>
              <a:rPr lang="he-IL" noProof="0" dirty="0" err="1"/>
              <a:t>keV</a:t>
            </a:r>
            <a:r>
              <a:rPr lang="he-IL" noProof="0" dirty="0"/>
              <a:t> (2.2σ) – הקרוב ביותר לספרות (17.479 </a:t>
            </a:r>
            <a:r>
              <a:rPr lang="he-IL" noProof="0" dirty="0" err="1"/>
              <a:t>keV</a:t>
            </a:r>
            <a:r>
              <a:rPr lang="he-IL" noProof="0" dirty="0"/>
              <a:t>)!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הפיזור בגביש </a:t>
            </a:r>
            <a:r>
              <a:rPr lang="he-IL" noProof="0" dirty="0" err="1"/>
              <a:t>KBr</a:t>
            </a:r>
            <a:r>
              <a:rPr lang="he-IL" noProof="0" dirty="0"/>
              <a:t> וסדרי עקיפה מרובים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8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עוצמה כפונקציה של זווית בראג (</a:t>
            </a:r>
            <a:r>
              <a:rPr lang="he-IL" noProof="0" dirty="0" err="1"/>
              <a:t>KBr</a:t>
            </a:r>
            <a:r>
              <a:rPr lang="he-IL" noProof="0" dirty="0"/>
              <a:t>)</a:t>
            </a:r>
          </a:p>
        </p:txBody>
      </p:sp>
      <p:pic>
        <p:nvPicPr>
          <p:cNvPr id="5" name="Picture 4" descr="kbr_spectrum_vs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39841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תופעות סריג ייחודיות בגביש </a:t>
            </a:r>
            <a:r>
              <a:rPr lang="he-IL" noProof="0" dirty="0" err="1"/>
              <a:t>KBr</a:t>
            </a:r>
            <a:endParaRPr lang="he-I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היסט אפס כולל: </a:t>
            </a:r>
            <a:r>
              <a:rPr lang="he-IL" noProof="0" dirty="0" err="1"/>
              <a:t>Δθ_KBr</a:t>
            </a:r>
            <a:r>
              <a:rPr lang="he-IL" noProof="0" dirty="0"/>
              <a:t> = +0.12° ± 0.25°.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זיהוי 8 שיאים בדידים ברורים עד לסדר עקיפה n=6.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השפעת קבוע הסריג: קבוע סריג גדול יותר (</a:t>
            </a:r>
            <a:r>
              <a:rPr lang="he-IL" noProof="0" dirty="0" err="1"/>
              <a:t>d_KBr</a:t>
            </a:r>
            <a:r>
              <a:rPr lang="he-IL" noProof="0" dirty="0"/>
              <a:t> = 329.9 </a:t>
            </a:r>
            <a:r>
              <a:rPr lang="he-IL" noProof="0" dirty="0" err="1"/>
              <a:t>pm</a:t>
            </a:r>
            <a:r>
              <a:rPr lang="he-IL" noProof="0" dirty="0"/>
              <a:t> לעומת </a:t>
            </a:r>
            <a:r>
              <a:rPr lang="he-IL" noProof="0" dirty="0" err="1"/>
              <a:t>d_LiF</a:t>
            </a:r>
            <a:r>
              <a:rPr lang="he-IL" noProof="0" dirty="0"/>
              <a:t> = 201.4 </a:t>
            </a:r>
            <a:r>
              <a:rPr lang="he-IL" noProof="0" dirty="0" err="1"/>
              <a:t>pm</a:t>
            </a:r>
            <a:r>
              <a:rPr lang="he-IL" noProof="0" dirty="0"/>
              <a:t>) יוצר זוויות פיזור קטנות יותר עבור אותה אנרגיה.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תוצאה: מאפשר ליותר סדרי פיזור </a:t>
            </a:r>
            <a:r>
              <a:rPr lang="he-IL" noProof="0" dirty="0" err="1"/>
              <a:t>להכנס</a:t>
            </a:r>
            <a:r>
              <a:rPr lang="he-IL" noProof="0" dirty="0"/>
              <a:t> לתחום הזוויות המוגבל של </a:t>
            </a:r>
            <a:r>
              <a:rPr lang="he-IL" noProof="0" dirty="0" err="1"/>
              <a:t>הגוניומטר</a:t>
            </a:r>
            <a:r>
              <a:rPr lang="he-IL" noProof="0" dirty="0"/>
              <a:t> (0°-40°).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רעש ועוצמה בסדרים גבוהים: בסדר 1 התקבלו התוצאות המדויקות ביותר (</a:t>
            </a:r>
            <a:r>
              <a:rPr lang="he-IL" noProof="0" dirty="0" err="1"/>
              <a:t>K_a</a:t>
            </a:r>
            <a:r>
              <a:rPr lang="he-IL" noProof="0" dirty="0"/>
              <a:t> = 17.40 </a:t>
            </a:r>
            <a:r>
              <a:rPr lang="he-IL" noProof="0" dirty="0" err="1"/>
              <a:t>keV</a:t>
            </a:r>
            <a:r>
              <a:rPr lang="he-IL" noProof="0" dirty="0"/>
              <a:t>, סטייה 0.6σ בלבד).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זיהוי סף הבליעה העצמית של ברום (</a:t>
            </a:r>
            <a:r>
              <a:rPr lang="he-IL" noProof="0" dirty="0" err="1"/>
              <a:t>Br</a:t>
            </a:r>
            <a:r>
              <a:rPr lang="he-IL" noProof="0" dirty="0"/>
              <a:t> K-</a:t>
            </a:r>
            <a:r>
              <a:rPr lang="he-IL" noProof="0" dirty="0" err="1"/>
              <a:t>edge</a:t>
            </a:r>
            <a:r>
              <a:rPr lang="he-IL" noProof="0" dirty="0"/>
              <a:t>) בגביש </a:t>
            </a:r>
            <a:r>
              <a:rPr lang="he-IL" noProof="0" dirty="0" err="1"/>
              <a:t>KBr</a:t>
            </a:r>
            <a:endParaRPr lang="he-I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9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</a:t>
            </a:r>
            <a:r>
              <a:rPr lang="he-IL" noProof="0" dirty="0" err="1"/>
              <a:t>KBr</a:t>
            </a:r>
            <a:r>
              <a:rPr lang="he-IL" noProof="0" dirty="0"/>
              <a:t> לפי אנרגיה (הדגשת </a:t>
            </a:r>
            <a:r>
              <a:rPr lang="he-IL" noProof="0" dirty="0" err="1"/>
              <a:t>Br</a:t>
            </a:r>
            <a:r>
              <a:rPr lang="he-IL" noProof="0" dirty="0"/>
              <a:t> K-</a:t>
            </a:r>
            <a:r>
              <a:rPr lang="he-IL" noProof="0" dirty="0" err="1"/>
              <a:t>edge</a:t>
            </a:r>
            <a:r>
              <a:rPr lang="he-IL" noProof="0" dirty="0"/>
              <a:t>)</a:t>
            </a:r>
          </a:p>
        </p:txBody>
      </p:sp>
      <p:pic>
        <p:nvPicPr>
          <p:cNvPr id="5" name="Picture 4" descr="kbr_spectrum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38347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מנגנון פיזיקלי של בליעה עצמית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ירידה חדה בעוצמה ב-13.47 </a:t>
            </a:r>
            <a:r>
              <a:rPr lang="he-IL" noProof="0" dirty="0" err="1"/>
              <a:t>keV</a:t>
            </a:r>
            <a:r>
              <a:rPr lang="he-IL" noProof="0" dirty="0"/>
              <a:t>: בספקטרום המתקבל מגביש </a:t>
            </a:r>
            <a:r>
              <a:rPr lang="he-IL" noProof="0" dirty="0" err="1"/>
              <a:t>KBr</a:t>
            </a:r>
            <a:r>
              <a:rPr lang="he-IL" noProof="0" dirty="0"/>
              <a:t> נבחין בצניחה פתאומית וחדה של עוצמת קרינת הרקע.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התאמה לסף הבליעה K של ברום (</a:t>
            </a:r>
            <a:r>
              <a:rPr lang="he-IL" noProof="0" dirty="0" err="1"/>
              <a:t>Br</a:t>
            </a:r>
            <a:r>
              <a:rPr lang="he-IL" noProof="0" dirty="0"/>
              <a:t>): האנרגיה 13.47 </a:t>
            </a:r>
            <a:r>
              <a:rPr lang="he-IL" noProof="0" dirty="0" err="1"/>
              <a:t>keV</a:t>
            </a:r>
            <a:r>
              <a:rPr lang="he-IL" noProof="0" dirty="0"/>
              <a:t> מתאימה בדיוק לאנרגיית היינון של אלקטרון מקליפת K באטומי הברום.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מעבר לאל-אלסטיות: מעל אנרגיה זו, הפוטונים אינם עוברים רק פיזור אלסטי (בראג), אלא מייננים את אטומי הברום בגביש.</a:t>
            </a:r>
          </a:p>
          <a:p>
            <a:pPr algn="r" rtl="1">
              <a:spcBef>
                <a:spcPts val="7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היעלמות </a:t>
            </a:r>
            <a:r>
              <a:rPr lang="he-IL" noProof="0" dirty="0" err="1"/>
              <a:t>פיקים</a:t>
            </a:r>
            <a:r>
              <a:rPr lang="he-IL" noProof="0" dirty="0"/>
              <a:t>: הבליעה העצמית החזקה מפחיתה את </a:t>
            </a:r>
            <a:r>
              <a:rPr lang="he-IL" noProof="0" dirty="0" err="1"/>
              <a:t>החזרתיות</a:t>
            </a:r>
            <a:r>
              <a:rPr lang="he-IL" noProof="0" dirty="0"/>
              <a:t> האלסטית ומסבירה את היעלמות פיק </a:t>
            </a:r>
            <a:r>
              <a:rPr lang="he-IL" noProof="0" dirty="0" err="1"/>
              <a:t>K_beta</a:t>
            </a:r>
            <a:r>
              <a:rPr lang="he-IL" noProof="0" dirty="0"/>
              <a:t> בסדר השני אל תוך הרעש.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התאמה </a:t>
            </a:r>
            <a:r>
              <a:rPr lang="he-IL" noProof="0" dirty="0" err="1"/>
              <a:t>גאוסיאנית</a:t>
            </a:r>
            <a:r>
              <a:rPr lang="he-IL" noProof="0" dirty="0"/>
              <a:t> כפולה וכיול אנרגטי מדויק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10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התאמה </a:t>
            </a:r>
            <a:r>
              <a:rPr lang="he-IL" noProof="0" dirty="0" err="1"/>
              <a:t>גאוסיאנית</a:t>
            </a:r>
            <a:r>
              <a:rPr lang="he-IL" noProof="0" dirty="0"/>
              <a:t> לקווי </a:t>
            </a:r>
            <a:r>
              <a:rPr lang="he-IL" noProof="0" dirty="0" err="1"/>
              <a:t>K_alpha</a:t>
            </a:r>
            <a:r>
              <a:rPr lang="he-IL" noProof="0" dirty="0"/>
              <a:t> ו-</a:t>
            </a:r>
            <a:r>
              <a:rPr lang="he-IL" noProof="0" dirty="0" err="1"/>
              <a:t>K_beta</a:t>
            </a:r>
            <a:r>
              <a:rPr lang="he-IL" noProof="0" dirty="0"/>
              <a:t> (LiF 2mm)</a:t>
            </a:r>
          </a:p>
        </p:txBody>
      </p:sp>
      <p:pic>
        <p:nvPicPr>
          <p:cNvPr id="5" name="Picture 4" descr="peak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39841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פרמטרי ההתאמה והערכים שהתקבלו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מודל התאמה: </a:t>
            </a:r>
            <a:r>
              <a:rPr lang="he-IL" noProof="0" dirty="0" err="1"/>
              <a:t>גאוסיאן</a:t>
            </a:r>
            <a:r>
              <a:rPr lang="he-IL" noProof="0" dirty="0"/>
              <a:t> כפול עבור שני קווי הפליטה בתוספת רקע ליניארי למזעור רעשי הפיזור.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אנרגיית </a:t>
            </a:r>
            <a:r>
              <a:rPr lang="he-IL" noProof="0" dirty="0" err="1"/>
              <a:t>K_alpha</a:t>
            </a:r>
            <a:r>
              <a:rPr lang="he-IL" noProof="0" dirty="0"/>
              <a:t> שהתקבלה: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17.206 ± 0.083 </a:t>
            </a:r>
            <a:r>
              <a:rPr lang="he-IL" noProof="0" dirty="0" err="1"/>
              <a:t>keV</a:t>
            </a:r>
            <a:r>
              <a:rPr lang="he-IL" noProof="0" dirty="0"/>
              <a:t> (ספרות: 17.479 </a:t>
            </a:r>
            <a:r>
              <a:rPr lang="he-IL" noProof="0" dirty="0" err="1"/>
              <a:t>keV</a:t>
            </a:r>
            <a:r>
              <a:rPr lang="he-IL" noProof="0" dirty="0"/>
              <a:t>)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אנרגיית </a:t>
            </a:r>
            <a:r>
              <a:rPr lang="he-IL" noProof="0" dirty="0" err="1"/>
              <a:t>K_beta</a:t>
            </a:r>
            <a:r>
              <a:rPr lang="he-IL" noProof="0" dirty="0"/>
              <a:t> שהתקבלה: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19.338 ± 0.105 </a:t>
            </a:r>
            <a:r>
              <a:rPr lang="he-IL" noProof="0" dirty="0" err="1"/>
              <a:t>keV</a:t>
            </a:r>
            <a:r>
              <a:rPr lang="he-IL" noProof="0" dirty="0"/>
              <a:t> (ספרות: 19.608 </a:t>
            </a:r>
            <a:r>
              <a:rPr lang="he-IL" noProof="0" dirty="0" err="1"/>
              <a:t>keV</a:t>
            </a:r>
            <a:r>
              <a:rPr lang="he-IL" noProof="0" dirty="0"/>
              <a:t>)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הערכת אי-וודאות: השגיאות משקללות את שגיאת ההתאמה הסטטיסטית ואת רגישות הרזולוציה הזוויתית של </a:t>
            </a:r>
            <a:r>
              <a:rPr lang="he-IL" noProof="0" dirty="0" err="1"/>
              <a:t>הגוניומטר</a:t>
            </a:r>
            <a:r>
              <a:rPr lang="he-IL" noProof="0" dirty="0"/>
              <a:t>.</a:t>
            </a:r>
          </a:p>
          <a:p>
            <a:pPr algn="r" rtl="1">
              <a:spcBef>
                <a:spcPts val="600"/>
              </a:spcBef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דיוק גבוה: התאמה רציפה מאפשרת חילוץ מרכזי שיא מעבר לצעד הדיסקרטי של המדידה (0.1°).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השפעת רוחב הצמצם (2mm מול 5mm) על הרזולוציה והשטף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11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מנורמל – הרחבת שיאים (FWHM)</a:t>
            </a:r>
          </a:p>
        </p:txBody>
      </p:sp>
      <p:pic>
        <p:nvPicPr>
          <p:cNvPr id="5" name="Picture 4" descr="collimat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493776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48095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ספקטרום גולמי (</a:t>
            </a:r>
            <a:r>
              <a:rPr lang="he-IL" noProof="0" dirty="0" err="1"/>
              <a:t>cps</a:t>
            </a:r>
            <a:r>
              <a:rPr lang="he-IL" noProof="0" dirty="0"/>
              <a:t>) – גידול </a:t>
            </a:r>
            <a:r>
              <a:rPr lang="he-IL" noProof="0" dirty="0" err="1"/>
              <a:t>אקספוננציאלי</a:t>
            </a:r>
            <a:r>
              <a:rPr lang="he-IL" noProof="0" dirty="0"/>
              <a:t> בשטף</a:t>
            </a:r>
          </a:p>
        </p:txBody>
      </p:sp>
      <p:pic>
        <p:nvPicPr>
          <p:cNvPr id="7" name="Picture 6" descr="collimator_comparison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92024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השוואת קריטריונים לחילוץ אנרגיות השיא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12 /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046294"/>
              </p:ext>
            </p:extLst>
          </p:nvPr>
        </p:nvGraphicFramePr>
        <p:xfrm>
          <a:off x="731520" y="13716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צמצם וקו קרינה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עוצמה מרבית (</a:t>
                      </a:r>
                      <a:r>
                        <a:rPr lang="he-IL" noProof="0" dirty="0" err="1"/>
                        <a:t>Max</a:t>
                      </a:r>
                      <a:r>
                        <a:rPr lang="he-IL" noProof="0" dirty="0"/>
                        <a:t> </a:t>
                      </a:r>
                      <a:r>
                        <a:rPr lang="he-IL" noProof="0" dirty="0" err="1"/>
                        <a:t>Intensity</a:t>
                      </a:r>
                      <a:r>
                        <a:rPr lang="he-IL" noProof="0" dirty="0"/>
                        <a:t>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מרכז כובד (</a:t>
                      </a:r>
                      <a:r>
                        <a:rPr lang="he-IL" noProof="0" dirty="0" err="1"/>
                        <a:t>Centroid</a:t>
                      </a:r>
                      <a:r>
                        <a:rPr lang="he-IL" noProof="0" dirty="0"/>
                        <a:t>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התאמה </a:t>
                      </a:r>
                      <a:r>
                        <a:rPr lang="he-IL" noProof="0" dirty="0" err="1"/>
                        <a:t>גאוסיאנית</a:t>
                      </a:r>
                      <a:r>
                        <a:rPr lang="he-IL" noProof="0" dirty="0"/>
                        <a:t> (</a:t>
                      </a:r>
                      <a:r>
                        <a:rPr lang="he-IL" noProof="0" dirty="0" err="1"/>
                        <a:t>Gaussian</a:t>
                      </a:r>
                      <a:r>
                        <a:rPr lang="he-IL" noProof="0" dirty="0"/>
                        <a:t>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ערך ספרותי (</a:t>
                      </a:r>
                      <a:r>
                        <a:rPr lang="he-IL" noProof="0" dirty="0" err="1"/>
                        <a:t>keV</a:t>
                      </a:r>
                      <a:r>
                        <a:rPr lang="he-IL" noProof="0" dirty="0"/>
                        <a:t>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LiF 2mm - </a:t>
                      </a: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17.215 ± 0.083 (0.3% | 3.2σ)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17.204 ± 0.083 (0.3% | 3.3σ)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17.206 ± 0.083 (0.3% | 3.3σ)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LiF 2mm - </a:t>
                      </a: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19.338 ± 0.105 (1.4% | 2.6σ)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19.324 ± 0.105 (1.4% | 2.7σ)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19.338 ± 0.105 (1.4% | 2.6σ)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KBr</a:t>
                      </a:r>
                      <a:r>
                        <a:rPr lang="he-IL" noProof="0" dirty="0"/>
                        <a:t> 2mm - </a:t>
                      </a: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17.400 ± 0.134 (0.5% | 0.6σ)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17.185 ± 0.134 (1.7% | 2.2σ)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17.185 ± 0.134 (1.7% | 2.2σ)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KBr</a:t>
                      </a:r>
                      <a:r>
                        <a:rPr lang="he-IL" noProof="0" dirty="0"/>
                        <a:t> 2mm - </a:t>
                      </a: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19.610 ± 0.170 (0.0% | 0.0σ)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19.290 ± 0.170 (1.6% | 1.9σ)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19.290 ± 0.170 (1.6% | 1.9σ)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LiF 5mm - </a:t>
                      </a: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17.215 ± 0.083 (0.3% | 3.2σ)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17.430 ± 0.083 (0.3% | 0.6σ)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17.464 ± 0.083 (0.1% | 0.2σ)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LiF 5mm - </a:t>
                      </a: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19.338 ± 0.105 (1.4% | 2.6σ)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19.580 ± 0.105 (0.1% | 0.3σ)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19.338 ± 0.105 (1.4% | 2.6σ)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19.608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מסקנת ניתוח הקריטריונים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5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צמצם צר (2mm): קריטריון העוצמה המרבית (</a:t>
            </a:r>
            <a:r>
              <a:rPr lang="he-IL" noProof="0" dirty="0" err="1"/>
              <a:t>Max</a:t>
            </a:r>
            <a:r>
              <a:rPr lang="he-IL" noProof="0" dirty="0"/>
              <a:t> </a:t>
            </a:r>
            <a:r>
              <a:rPr lang="he-IL" noProof="0" dirty="0" err="1"/>
              <a:t>Intensity</a:t>
            </a:r>
            <a:r>
              <a:rPr lang="he-IL" noProof="0" dirty="0"/>
              <a:t>) מניב את הסטייה המינימלית מהערך הספרותי עקב </a:t>
            </a:r>
            <a:r>
              <a:rPr lang="he-IL" noProof="0" dirty="0" err="1"/>
              <a:t>פיקים</a:t>
            </a:r>
            <a:r>
              <a:rPr lang="he-IL" noProof="0" dirty="0"/>
              <a:t> חדים וברורים.</a:t>
            </a:r>
            <a:br>
              <a:rPr lang="he-IL" noProof="0" dirty="0"/>
            </a:br>
            <a:r>
              <a:rPr lang="he-IL" noProof="0" dirty="0"/>
              <a:t>• צמצם רחב (5mm): </a:t>
            </a:r>
            <a:r>
              <a:rPr lang="he-IL" noProof="0" dirty="0" err="1"/>
              <a:t>פיקים</a:t>
            </a:r>
            <a:r>
              <a:rPr lang="he-IL" noProof="0" dirty="0"/>
              <a:t> שטוחים ורחבים מביאים לכך שהתאמה </a:t>
            </a:r>
            <a:r>
              <a:rPr lang="he-IL" noProof="0" dirty="0" err="1"/>
              <a:t>גאוסיאנית</a:t>
            </a:r>
            <a:r>
              <a:rPr lang="he-IL" noProof="0" dirty="0"/>
              <a:t> ומרכז כובד מדויקים בהרבה, מכיוון שהם ממצעים את הרעש הסטטיסטי על פני כל הפרופיל.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דיון פיזיקלי במנגנוני הפיזור, הבליעה והמגבלות הניסיוניות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13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חשיבות כיול היסט האפס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היסט זוויתי קטן (&lt;0.5°) הנו קריטי לכיול האנרגטי, מכיוון ש-E ביחס הפוך ל-</a:t>
            </a:r>
            <a:r>
              <a:rPr lang="he-IL" noProof="0" dirty="0" err="1"/>
              <a:t>sin</a:t>
            </a:r>
            <a:r>
              <a:rPr lang="he-IL" noProof="0" dirty="0"/>
              <a:t>(θ). בסדרי עקיפה גבוהים השפעת ההיסט קטנה מורגשת פחות.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פשרת רוחב צמצם (</a:t>
            </a:r>
            <a:r>
              <a:rPr lang="he-IL" noProof="0" dirty="0" err="1"/>
              <a:t>Resolution</a:t>
            </a:r>
            <a:r>
              <a:rPr lang="he-IL" noProof="0" dirty="0"/>
              <a:t> </a:t>
            </a:r>
            <a:r>
              <a:rPr lang="he-IL" noProof="0" dirty="0" err="1"/>
              <a:t>vs</a:t>
            </a:r>
            <a:r>
              <a:rPr lang="he-IL" noProof="0" dirty="0"/>
              <a:t> </a:t>
            </a:r>
            <a:r>
              <a:rPr lang="he-IL" noProof="0" dirty="0" err="1"/>
              <a:t>Flux</a:t>
            </a:r>
            <a:r>
              <a:rPr lang="he-IL" noProof="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רוחב הצמצם מכתיב פשרה הנדסית יסודית: צמצם רחב (5mm) משפר דרמטית את קצב הספירה (</a:t>
            </a:r>
            <a:r>
              <a:rPr lang="he-IL" noProof="0" dirty="0" err="1"/>
              <a:t>cps</a:t>
            </a:r>
            <a:r>
              <a:rPr lang="he-IL" noProof="0" dirty="0"/>
              <a:t>) אך מביא להרחבה גיאומטרית (FWHM) עקב התבדרות האלומה.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אינטראקציה לא-אלסטית (בליעה עצמית)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תצפית ישירה בסף הבליעה K של ברום (13.47 </a:t>
            </a:r>
            <a:r>
              <a:rPr lang="he-IL" noProof="0" dirty="0" err="1"/>
              <a:t>keV</a:t>
            </a:r>
            <a:r>
              <a:rPr lang="he-IL" noProof="0" dirty="0"/>
              <a:t>) מראה את המעבר מפיזור בראג אלסטי ליינון קליפת K לא-אלסטי בגביש </a:t>
            </a:r>
            <a:r>
              <a:rPr lang="he-IL" noProof="0" dirty="0" err="1"/>
              <a:t>KBr</a:t>
            </a:r>
            <a:r>
              <a:rPr lang="he-IL" noProof="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השפעת קבוע הסריג (d)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קבוע סריג גדול ב-</a:t>
            </a:r>
            <a:r>
              <a:rPr lang="he-IL" noProof="0" dirty="0" err="1"/>
              <a:t>KBr</a:t>
            </a:r>
            <a:r>
              <a:rPr lang="he-IL" noProof="0" dirty="0"/>
              <a:t> (329.9 </a:t>
            </a:r>
            <a:r>
              <a:rPr lang="he-IL" noProof="0" dirty="0" err="1"/>
              <a:t>pm</a:t>
            </a:r>
            <a:r>
              <a:rPr lang="he-IL" noProof="0" dirty="0"/>
              <a:t> לעומת 201.4 </a:t>
            </a:r>
            <a:r>
              <a:rPr lang="he-IL" noProof="0" dirty="0" err="1"/>
              <a:t>pm</a:t>
            </a:r>
            <a:r>
              <a:rPr lang="he-IL" noProof="0" dirty="0"/>
              <a:t> ב-</a:t>
            </a:r>
            <a:r>
              <a:rPr lang="he-IL" noProof="0" dirty="0" err="1"/>
              <a:t>LiF</a:t>
            </a:r>
            <a:r>
              <a:rPr lang="he-IL" noProof="0" dirty="0"/>
              <a:t>) דוחף את זוויות בראג לערכים קטנים יותר, ומאפשר צפייה בסדרי עקיפה מרובים (עד n=6).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עקיפת בראג וספקטרוסקופיית קרני רנטגן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מסקנות מרכזיות והישגי הניסוי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שקף 14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אימות חוק בראג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שחזור מדויק של קווי הפליטה </a:t>
            </a:r>
            <a:r>
              <a:rPr lang="he-IL" noProof="0" dirty="0" err="1"/>
              <a:t>K_alpha</a:t>
            </a:r>
            <a:r>
              <a:rPr lang="he-IL" noProof="0" dirty="0"/>
              <a:t> ו-</a:t>
            </a:r>
            <a:r>
              <a:rPr lang="he-IL" noProof="0" dirty="0" err="1"/>
              <a:t>K_beta</a:t>
            </a:r>
            <a:r>
              <a:rPr lang="he-IL" noProof="0" dirty="0"/>
              <a:t> של מוליבדן בכל סדרי העקיפה.</a:t>
            </a:r>
            <a:br>
              <a:rPr lang="he-IL" noProof="0" dirty="0"/>
            </a:br>
            <a:r>
              <a:rPr lang="he-IL" noProof="0" dirty="0"/>
              <a:t>• התכנסות מיטבית לערך התיאורטי בסדרים גבוהים (סטייה של 0.05 </a:t>
            </a:r>
            <a:r>
              <a:rPr lang="he-IL" noProof="0" dirty="0" err="1"/>
              <a:t>keV</a:t>
            </a:r>
            <a:r>
              <a:rPr lang="he-IL" noProof="0" dirty="0"/>
              <a:t> בסדר n=3).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37160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כיול ורזולוציה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18745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כיול היסט האפס של </a:t>
            </a:r>
            <a:r>
              <a:rPr lang="he-IL" noProof="0" dirty="0" err="1"/>
              <a:t>הגוניומטר</a:t>
            </a:r>
            <a:r>
              <a:rPr lang="he-IL" noProof="0" dirty="0"/>
              <a:t> חיוני להשגת דיוק אנרגטי תחרותי.</a:t>
            </a:r>
            <a:br>
              <a:rPr lang="he-IL" noProof="0" dirty="0"/>
            </a:br>
            <a:r>
              <a:rPr lang="he-IL" noProof="0" dirty="0"/>
              <a:t>• הבנה כמותית של הפשרה בין רזולוציה ספקטרלית (צמצם 2mm) לשטף קרינה (צמצם 5mm).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תופעות סריג ובליעה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גילוי סף הבליעה העצמית K של ברום בגביש </a:t>
            </a:r>
            <a:r>
              <a:rPr lang="he-IL" noProof="0" dirty="0" err="1"/>
              <a:t>KBr</a:t>
            </a:r>
            <a:r>
              <a:rPr lang="he-IL" noProof="0" dirty="0"/>
              <a:t> ב-13.47 </a:t>
            </a:r>
            <a:r>
              <a:rPr lang="he-IL" noProof="0" dirty="0" err="1"/>
              <a:t>keV</a:t>
            </a:r>
            <a:r>
              <a:rPr lang="he-IL" noProof="0" dirty="0"/>
              <a:t>.</a:t>
            </a:r>
            <a:br>
              <a:rPr lang="he-IL" noProof="0" dirty="0"/>
            </a:br>
            <a:r>
              <a:rPr lang="he-IL" noProof="0" dirty="0"/>
              <a:t>• הדגמת השפעת קבוע הסריג d על טווח הזוויות הנמדד ומספר סדרי הדיפרקציה הנצפים.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84048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 err="1"/>
              <a:t>אופטימיזציית</a:t>
            </a:r>
            <a:r>
              <a:rPr lang="he-IL" noProof="0" dirty="0"/>
              <a:t> ניתוח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4343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במדידות חדות (צמצם 2mm) שיטת העוצמה המרבית עדיפה.</a:t>
            </a:r>
            <a:br>
              <a:rPr lang="he-IL" noProof="0" dirty="0"/>
            </a:br>
            <a:r>
              <a:rPr lang="he-IL" noProof="0" dirty="0"/>
              <a:t>• במדידות רחבות (צמצם 5mm) התאמה </a:t>
            </a:r>
            <a:r>
              <a:rPr lang="he-IL" noProof="0" dirty="0" err="1"/>
              <a:t>גאוסיאנית</a:t>
            </a:r>
            <a:r>
              <a:rPr lang="he-IL" noProof="0" dirty="0"/>
              <a:t> ומרכז כובד מספקות דיוק עדיף.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נספחים להצגה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נספח א': כיול היסט האפס של </a:t>
            </a:r>
            <a:r>
              <a:rPr lang="he-IL" noProof="0" dirty="0" err="1"/>
              <a:t>הגוניומטר</a:t>
            </a:r>
            <a:r>
              <a:rPr lang="he-IL" noProof="0" dirty="0"/>
              <a:t> (</a:t>
            </a:r>
            <a:r>
              <a:rPr lang="he-IL" noProof="0" dirty="0" err="1"/>
              <a:t>Δθ_B</a:t>
            </a:r>
            <a:r>
              <a:rPr lang="he-IL" noProof="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נספח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עקומות כיול זוויתי עבור LiF ו-</a:t>
            </a:r>
            <a:r>
              <a:rPr lang="he-IL" noProof="0" dirty="0" err="1"/>
              <a:t>KBr</a:t>
            </a:r>
            <a:endParaRPr lang="he-IL" noProof="0" dirty="0"/>
          </a:p>
        </p:txBody>
      </p:sp>
      <p:pic>
        <p:nvPicPr>
          <p:cNvPr id="5" name="Picture 4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577840" cy="25100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r" rtl="1">
              <a:defRPr sz="14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מתודולוגיית החישוב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36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שיטת התאמה: רגרסיה ליניארית בין הזוויות המדודות לתיאורטיות בכל השיאים.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היסט אפס לגביש LiF: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</a:t>
            </a:r>
            <a:r>
              <a:rPr lang="he-IL" noProof="0" dirty="0" err="1"/>
              <a:t>Δθ_LiF</a:t>
            </a:r>
            <a:r>
              <a:rPr lang="he-IL" noProof="0" dirty="0"/>
              <a:t> = +0.11° ± 0.06°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היסט אפס לגביש </a:t>
            </a:r>
            <a:r>
              <a:rPr lang="he-IL" noProof="0" dirty="0" err="1"/>
              <a:t>KBr</a:t>
            </a:r>
            <a:r>
              <a:rPr lang="he-IL" noProof="0" dirty="0"/>
              <a:t>: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  </a:t>
            </a:r>
            <a:r>
              <a:rPr lang="he-IL" noProof="0" dirty="0" err="1"/>
              <a:t>Δθ_KBr</a:t>
            </a:r>
            <a:r>
              <a:rPr lang="he-IL" noProof="0" dirty="0"/>
              <a:t> = +0.12° ± 0.25°</a:t>
            </a:r>
          </a:p>
          <a:p>
            <a:pPr algn="r" rtl="1">
              <a:spcBef>
                <a:spcPts val="800"/>
              </a:spcBef>
              <a:defRPr sz="1200">
                <a:solidFill>
                  <a:srgbClr val="1E293B"/>
                </a:solidFill>
                <a:latin typeface="Heebo"/>
              </a:defRPr>
            </a:pPr>
            <a:r>
              <a:rPr lang="he-IL" noProof="0" dirty="0"/>
              <a:t>• משמעות פיזיקלית: שגיאה מכנית קבועה בזווית ההתחלתית של זרוע הגלאי </a:t>
            </a:r>
            <a:r>
              <a:rPr lang="he-IL" noProof="0" dirty="0" err="1"/>
              <a:t>בגוניומטר</a:t>
            </a:r>
            <a:r>
              <a:rPr lang="he-IL" noProof="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1D4ED8"/>
                </a:solidFill>
                <a:latin typeface="Heebo"/>
              </a:defRPr>
            </a:pPr>
            <a:r>
              <a:rPr lang="he-IL" noProof="0" dirty="0"/>
              <a:t>נספחים להצגה</a:t>
            </a:r>
          </a:p>
          <a:p>
            <a:pPr algn="r" rtl="1">
              <a:defRPr sz="2000" b="1">
                <a:solidFill>
                  <a:srgbClr val="0F1E3C"/>
                </a:solidFill>
                <a:latin typeface="Heebo"/>
              </a:defRPr>
            </a:pPr>
            <a:r>
              <a:rPr lang="he-IL" noProof="0" dirty="0"/>
              <a:t>נספח ב': טבלת נתוני שיאים מפורטת - גביש </a:t>
            </a:r>
            <a:r>
              <a:rPr lang="he-IL" noProof="0" dirty="0" err="1"/>
              <a:t>KBr</a:t>
            </a:r>
            <a:endParaRPr lang="he-I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rtl="1">
              <a:defRPr sz="1000">
                <a:solidFill>
                  <a:srgbClr val="475569"/>
                </a:solidFill>
                <a:latin typeface="Heebo"/>
              </a:defRPr>
            </a:pPr>
            <a:r>
              <a:rPr lang="he-IL" noProof="0" dirty="0"/>
              <a:t>מציג: יובל הירשמן | סמינר במעבדה 4מח | נספח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406183"/>
              </p:ext>
            </p:extLst>
          </p:nvPr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קו ספקטרלי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סדר (n)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זווית תיאורטית (°)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זווית מדודה (°)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היסט (°)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עוצמה (</a:t>
                      </a:r>
                      <a:r>
                        <a:rPr lang="he-IL" noProof="0" dirty="0" err="1"/>
                        <a:t>cps</a:t>
                      </a:r>
                      <a:r>
                        <a:rPr lang="he-IL" noProof="0" dirty="0"/>
                        <a:t>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FFFFFF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SNR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6.17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6.20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+0.03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773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23.9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12.42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18.82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+0.08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5.5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25.47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K_alpha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32.52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31.30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-1.22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16.71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17.40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+0.69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 err="1"/>
                        <a:t>K_beta</a:t>
                      </a:r>
                      <a:endParaRPr lang="he-IL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+1.20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>
                          <a:solidFill>
                            <a:srgbClr val="1E293B"/>
                          </a:solidFill>
                          <a:latin typeface="Heebo"/>
                        </a:defRPr>
                      </a:pPr>
                      <a:r>
                        <a:rPr lang="he-IL" noProof="0" dirty="0"/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2312</Words>
  <Application>Microsoft Office PowerPoint</Application>
  <PresentationFormat>Widescreen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Yuval Hirschmann</cp:lastModifiedBy>
  <cp:revision>2</cp:revision>
  <dcterms:created xsi:type="dcterms:W3CDTF">2013-01-27T09:14:16Z</dcterms:created>
  <dcterms:modified xsi:type="dcterms:W3CDTF">2026-07-19T15:40:52Z</dcterms:modified>
  <cp:category/>
</cp:coreProperties>
</file>